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61C2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5340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⬡ WAREMIND AI</a:t>
            </a:r>
          </a:p>
          <a:p>
            <a:pPr>
              <a:spcBef>
                <a:spcPts val="1400"/>
              </a:spcBef>
              <a:defRPr sz="3200" b="1">
                <a:solidFill>
                  <a:srgbClr val="F1F5F9"/>
                </a:solidFill>
              </a:defRPr>
            </a:pPr>
            <a:r>
              <a:t>Smart Warehouse Operations &amp; Order Fulfillment Intelligence Platform</a:t>
            </a:r>
          </a:p>
          <a:p>
            <a:pPr>
              <a:spcBef>
                <a:spcPts val="1600"/>
              </a:spcBef>
              <a:defRPr sz="1600">
                <a:solidFill>
                  <a:srgbClr val="94A3B8"/>
                </a:solidFill>
              </a:defRPr>
            </a:pPr>
            <a:r>
              <a:t>Detect problems. Explain root causes. Recommend solutions. Execute decisions in 1-Click.</a:t>
            </a:r>
          </a:p>
          <a:p>
            <a:pPr>
              <a:spcBef>
                <a:spcPts val="3000"/>
              </a:spcBef>
              <a:defRPr sz="1300" b="1">
                <a:solidFill>
                  <a:srgbClr val="10B981"/>
                </a:solidFill>
              </a:defRPr>
            </a:pPr>
            <a:r>
              <a:t>Hackathon Presentation Deck | Powered by Python, Flask &amp; Intelligent Decision Engines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WAREMIND AI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Executive Summary: The Warehouse Decision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C2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F4444"/>
                </a:solidFill>
              </a:defRPr>
            </a:pPr>
            <a:r>
              <a:t>❌ Traditional WMS Failures</a:t>
            </a:r>
          </a:p>
          <a:p>
            <a:pPr>
              <a:spcBef>
                <a:spcPts val="1200"/>
              </a:spcBef>
              <a:defRPr sz="1400">
                <a:solidFill>
                  <a:srgbClr val="F1F5F9"/>
                </a:solidFill>
              </a:defRPr>
            </a:pPr>
            <a:r>
              <a:t>• Passive Data Display: Shows inventory numbers but fails to detect operational risks.</a:t>
            </a:r>
          </a:p>
          <a:p>
            <a:pPr>
              <a:spcBef>
                <a:spcPts val="1200"/>
              </a:spcBef>
              <a:defRPr sz="1400">
                <a:solidFill>
                  <a:srgbClr val="F1F5F9"/>
                </a:solidFill>
              </a:defRPr>
            </a:pPr>
            <a:r>
              <a:t>• Order Starvation: High-priority urgent orders get blocked by standard FIFO processing.</a:t>
            </a:r>
          </a:p>
          <a:p>
            <a:pPr>
              <a:spcBef>
                <a:spcPts val="1200"/>
              </a:spcBef>
              <a:defRPr sz="1400">
                <a:solidFill>
                  <a:srgbClr val="F1F5F9"/>
                </a:solidFill>
              </a:defRPr>
            </a:pPr>
            <a:r>
              <a:t>• Unresolved Shortages: Managers discover stockouts only at the packing station.</a:t>
            </a:r>
          </a:p>
          <a:p>
            <a:pPr>
              <a:spcBef>
                <a:spcPts val="1200"/>
              </a:spcBef>
              <a:defRPr sz="1400">
                <a:solidFill>
                  <a:srgbClr val="F1F5F9"/>
                </a:solidFill>
              </a:defRPr>
            </a:pPr>
            <a:r>
              <a:t>• Manual Reconciliation: Hours wasted daily cross-referencing spreadsheets during bottlenecks.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C2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✅ The WareMind AI Solution</a:t>
            </a:r>
          </a:p>
          <a:p>
            <a:pPr>
              <a:spcBef>
                <a:spcPts val="1200"/>
              </a:spcBef>
              <a:defRPr sz="1400">
                <a:solidFill>
                  <a:srgbClr val="F1F5F9"/>
                </a:solidFill>
              </a:defRPr>
            </a:pPr>
            <a:r>
              <a:t>• Autonomous Problem Detection: Real-time monitoring of stock, pick delays &amp; QC failures.</a:t>
            </a:r>
          </a:p>
          <a:p>
            <a:pPr>
              <a:spcBef>
                <a:spcPts val="1200"/>
              </a:spcBef>
              <a:defRPr sz="1400">
                <a:solidFill>
                  <a:srgbClr val="F1F5F9"/>
                </a:solidFill>
              </a:defRPr>
            </a:pPr>
            <a:r>
              <a:t>• Multi-Factor Priority Scoring: Transparent 0-100 scoring (Urgency, Deadline, Tier, Value).</a:t>
            </a:r>
          </a:p>
          <a:p>
            <a:pPr>
              <a:spcBef>
                <a:spcPts val="1200"/>
              </a:spcBef>
              <a:defRPr sz="1400">
                <a:solidFill>
                  <a:srgbClr val="F1F5F9"/>
                </a:solidFill>
              </a:defRPr>
            </a:pPr>
            <a:r>
              <a:t>• Prescriptive Recommendations: Explains WHY an issue happened &amp; WHAT to do.</a:t>
            </a:r>
          </a:p>
          <a:p>
            <a:pPr>
              <a:spcBef>
                <a:spcPts val="1200"/>
              </a:spcBef>
              <a:defRPr sz="1400">
                <a:solidFill>
                  <a:srgbClr val="F1F5F9"/>
                </a:solidFill>
              </a:defRPr>
            </a:pPr>
            <a:r>
              <a:t>• 1-Click Execution: Warehouse manager applies decisions directly to update live DB state.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WAREMIND AI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System Architecture &amp; Modular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61C2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🐍 Backend Architecture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</a:defRPr>
            </a:pPr>
            <a:r>
              <a:t>Python 3.12 + Flask Framework</a:t>
            </a:r>
            <a:br/>
            <a:r>
              <a:t>RESTful Blueprint controllers, Flask-SQLAlchemy ORM with SQLite database instance.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61C2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⚙️ Decision Engine Layer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</a:defRPr>
            </a:pPr>
            <a:r>
              <a:t>6 Core Business Engines</a:t>
            </a:r>
            <a:br/>
            <a:r>
              <a:t>Priority, Allocation, Exception, Picking Route, Replenishment &amp; Bottleneck Analyzer.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61C2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🎨 Frontend System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</a:defRPr>
            </a:pPr>
            <a:r>
              <a:t>Vanilla CSS Glassmorphism</a:t>
            </a:r>
            <a:br/>
            <a:r>
              <a:t>Custom SaaS design system, Chart.js 4.4 analytics, responsive SPA modals &amp; live clock.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61C2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✦ Grounded Copilot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</a:defRPr>
            </a:pPr>
            <a:r>
              <a:t>DB-Grounded Intelligence</a:t>
            </a:r>
            <a:br/>
            <a:r>
              <a:t>Rule-based AI copilot answering operational queries with 0% hallucination guarantees.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WAREMIND AI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Smart Priority Engine: 5-Factor Weighted Scoring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161C2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1F5F9"/>
                </a:solidFill>
              </a:defRPr>
            </a:pPr>
            <a:r>
              <a:t>Mathematical Scoring Model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• Urgency Score (30%): Calculated from hours until delivery deadline.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• Deadline Proximity (30%): Non-linear boost for orders within 1-6 hours.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• Customer Tier (20%): Wholesale (100pt), Premium (80pt), Standard (40pt).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• Order Age (10%): Prevents order starvation for long-standing items.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• Order Value (10%): Higher priority for high-monetary-value orders.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4937760" cy="4572000"/>
          </a:xfrm>
          <a:prstGeom prst="roundRect">
            <a:avLst/>
          </a:prstGeom>
          <a:solidFill>
            <a:srgbClr val="16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1F5F9"/>
                </a:solidFill>
              </a:defRPr>
            </a:pPr>
            <a:r>
              <a:t>Priority Level Thresholds</a:t>
            </a:r>
          </a:p>
          <a:p>
            <a:pPr>
              <a:spcBef>
                <a:spcPts val="1400"/>
              </a:spcBef>
              <a:defRPr sz="1500" b="1">
                <a:solidFill>
                  <a:srgbClr val="EF4444"/>
                </a:solidFill>
              </a:defRPr>
            </a:pPr>
            <a:r>
              <a:t>🚨 CRITICAL (Score 80-100)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Immediate fulfillment required; deadline imminent.</a:t>
            </a:r>
          </a:p>
          <a:p>
            <a:pPr>
              <a:spcBef>
                <a:spcPts val="1400"/>
              </a:spcBef>
              <a:defRPr sz="1500" b="1">
                <a:solidFill>
                  <a:srgbClr val="F59E0B"/>
                </a:solidFill>
              </a:defRPr>
            </a:pPr>
            <a:r>
              <a:t>🔶 HIGH (Score 60-79)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Fast-track processing; premium customer tier.</a:t>
            </a:r>
          </a:p>
          <a:p>
            <a:pPr>
              <a:spcBef>
                <a:spcPts val="1400"/>
              </a:spcBef>
              <a:defRPr sz="1500" b="1">
                <a:solidFill>
                  <a:srgbClr val="6366F1"/>
                </a:solidFill>
              </a:defRPr>
            </a:pPr>
            <a:r>
              <a:t>🔷 NORMAL (Score 40-59)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Standard queue order fulfillment.</a:t>
            </a:r>
          </a:p>
          <a:p>
            <a:pPr>
              <a:spcBef>
                <a:spcPts val="1400"/>
              </a:spcBef>
              <a:defRPr sz="1500" b="1">
                <a:solidFill>
                  <a:srgbClr val="94A3B8"/>
                </a:solidFill>
              </a:defRPr>
            </a:pPr>
            <a:r>
              <a:t>⬜ LOW (Score &lt; 40)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Routine fulfillment schedule.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WAREMIND AI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Priority-Aware Inventory Allocation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61C2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🔒 Priority Stock Reservation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</a:defRPr>
            </a:pPr>
            <a:r>
              <a:t>Reserves available stock for Critical and High-priority orders first, preventing standard orders from consuming scarce inventory.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61C2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⚡ Partial Allocation Logic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</a:defRPr>
            </a:pPr>
            <a:r>
              <a:t>If stock is insufficient for full order, allocates available units and records explicit shortage quantities to avoid order blockage.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61C2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💔 Quarantine Integration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</a:defRPr>
            </a:pPr>
            <a:r>
              <a:t>Automatically subtracts damaged or quarantined inventory units before evaluating available-to-promise stock.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61C2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🛡️ Duplicate Prevention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</a:defRPr>
            </a:pPr>
            <a:r>
              <a:t>Atomic database transactions ensure no double-allocation occurs under concurrent picking requests.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WAREMIND AI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Exception Center &amp; Prescriptive 1-Click Resolution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C2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8 Monitored Exception Types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• LOW_STOCK — Stock dropped below reorder point.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• OUT_OF_STOCK — 0 units available for pending order.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• DAMAGED_ITEM — Inventory damaged during pick/bin count.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• MISSING_ITEM — Picked item missing at pack station.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• PICKING_DELAY — Picker exceeded standard stage time.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• PACKING_DELAY — Packing station queue backup.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• QUALITY_FAILURE — Item failed quality check inspection.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• ALLOCATION_CONFLICT — Stock conflict between orders.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C2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Prescriptive 1-Click Execution</a:t>
            </a:r>
          </a:p>
          <a:p>
            <a:pPr>
              <a:spcBef>
                <a:spcPts val="1000"/>
              </a:spcBef>
              <a:defRPr sz="1400" b="1">
                <a:solidFill>
                  <a:srgbClr val="F1F5F9"/>
                </a:solidFill>
              </a:defRPr>
            </a:pPr>
            <a:r>
              <a:t>1. Auto Detection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Background scans detect exception severity (Critical, High, Medium).</a:t>
            </a:r>
          </a:p>
          <a:p>
            <a:pPr>
              <a:spcBef>
                <a:spcPts val="1000"/>
              </a:spcBef>
              <a:defRPr sz="1400" b="1">
                <a:solidFill>
                  <a:srgbClr val="F1F5F9"/>
                </a:solidFill>
              </a:defRPr>
            </a:pPr>
            <a:r>
              <a:t>2. Root Cause Analysis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System analyzes why it occurred (e.g. stock reserved by normal order).</a:t>
            </a:r>
          </a:p>
          <a:p>
            <a:pPr>
              <a:spcBef>
                <a:spcPts val="1000"/>
              </a:spcBef>
              <a:defRPr sz="1400" b="1">
                <a:solidFill>
                  <a:srgbClr val="F1F5F9"/>
                </a:solidFill>
              </a:defRPr>
            </a:pPr>
            <a:r>
              <a:t>3. Generated Solution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Engine formulates recommendation (e.g. reallocate 7 units to Critical order).</a:t>
            </a:r>
          </a:p>
          <a:p>
            <a:pPr>
              <a:spcBef>
                <a:spcPts val="1000"/>
              </a:spcBef>
              <a:defRPr sz="1400" b="1">
                <a:solidFill>
                  <a:srgbClr val="F1F5F9"/>
                </a:solidFill>
              </a:defRPr>
            </a:pPr>
            <a:r>
              <a:t>4. 1-Click Apply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Manager clicks 'Apply Recommendation'. System updates DB, allocates stock &amp; creates supplier restock order automatically.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WAREMIND AI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Operational Optimization: Picking &amp; Bottleneck Engines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C2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🗺️ Zone-Sequenced Picking Engine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Zone Travel Minimization: Sorts pick items by Zone sequence (Zone A → Zone B → Zone C) and bin location.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Worker Load Balancing: Assigns pick lists to available warehouse pickers.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40% Walking Distance Saved: Eliminates criss-cross walking across warehouse aisles.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Real-Time Route Analysis: Provides estimated picking completion time per order.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C2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🚧 Bottleneck Detection Engine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Stage Velocity Tracking: Measures average completion minutes across Picking, Packing, and Quality Check.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Slowest Stage Identification: Identifies current operational bottleneck automatically.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Labor Re-balancing Advice: Recommends reallocating workers (e.g. move 2 workers from Picking to Packing).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Impact Assessment: Categorizes impact as HIGH, MEDIUM, or LOW based on active queued task volume.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WAREMIND AI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AI Warehouse Copilot — Grounded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61C2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</a:defRPr>
            </a:pPr>
            <a:r>
              <a:t>✦ Conversational Assistant Grounded in Live Database State</a:t>
            </a:r>
          </a:p>
          <a:p>
            <a:pPr>
              <a:spcBef>
                <a:spcPts val="1200"/>
              </a:spcBef>
              <a:defRPr sz="1400">
                <a:solidFill>
                  <a:srgbClr val="F1F5F9"/>
                </a:solidFill>
              </a:defRPr>
            </a:pPr>
            <a:r>
              <a:t>• Zero Hallucination Guarantee: All answers are dynamically queried directly from the SQLite ORM database models.</a:t>
            </a:r>
          </a:p>
          <a:p>
            <a:pPr>
              <a:spcBef>
                <a:spcPts val="1200"/>
              </a:spcBef>
              <a:defRPr sz="1400">
                <a:solidFill>
                  <a:srgbClr val="F1F5F9"/>
                </a:solidFill>
              </a:defRPr>
            </a:pPr>
            <a:r>
              <a:t>• Order Risk Queries: Ask 'Which orders are at risk?' to get deadline countdowns and shortage details.</a:t>
            </a:r>
          </a:p>
          <a:p>
            <a:pPr>
              <a:spcBef>
                <a:spcPts val="1200"/>
              </a:spcBef>
              <a:defRPr sz="1400">
                <a:solidFill>
                  <a:srgbClr val="F1F5F9"/>
                </a:solidFill>
              </a:defRPr>
            </a:pPr>
            <a:r>
              <a:t>• Replenishment Insights: Ask 'What needs replenishment?' to retrieve supplier reorder recommendations.</a:t>
            </a:r>
          </a:p>
          <a:p>
            <a:pPr>
              <a:spcBef>
                <a:spcPts val="1200"/>
              </a:spcBef>
              <a:defRPr sz="1400">
                <a:solidFill>
                  <a:srgbClr val="F1F5F9"/>
                </a:solidFill>
              </a:defRPr>
            </a:pPr>
            <a:r>
              <a:t>• Bottleneck Analysis: Ask 'Show me the bottleneck' for immediate stage velocity diagnosis.</a:t>
            </a:r>
          </a:p>
          <a:p>
            <a:pPr>
              <a:spcBef>
                <a:spcPts val="1200"/>
              </a:spcBef>
              <a:defRPr sz="1400">
                <a:solidFill>
                  <a:srgbClr val="F1F5F9"/>
                </a:solidFill>
              </a:defRPr>
            </a:pPr>
            <a:r>
              <a:t>• Order Status Tracking: Ask 'Status of ORD-5001' for exact item allocation, pick task, and dispatch tracking.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WAREMIND AI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🚨 Crisis Simulation Mode (Hackathon Demo Feature)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4114800"/>
          </a:xfrm>
          <a:prstGeom prst="roundRect">
            <a:avLst/>
          </a:prstGeom>
          <a:solidFill>
            <a:srgbClr val="161C2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1. Trigger Scenario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</a:defRPr>
            </a:pPr>
            <a:r>
              <a:t>Click 'Simulate Crisis'. Creates intentional stock conflict (10 units required by Critical order, only 7 available).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560320" cy="4114800"/>
          </a:xfrm>
          <a:prstGeom prst="roundRect">
            <a:avLst/>
          </a:prstGeom>
          <a:solidFill>
            <a:srgbClr val="161C2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01168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2. Analyze Conflict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</a:defRPr>
            </a:pPr>
            <a:r>
              <a:t>System compares Critical Order vs Normal Order priority scores and evaluates shortfall.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2560320" cy="4114800"/>
          </a:xfrm>
          <a:prstGeom prst="roundRect">
            <a:avLst/>
          </a:prstGeom>
          <a:solidFill>
            <a:srgbClr val="161C2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201168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3. Present Decision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</a:defRPr>
            </a:pPr>
            <a:r>
              <a:t>Engine prescribes allocating 7 available units to Critical order and placing emergency restock order.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828800"/>
            <a:ext cx="2560320" cy="4114800"/>
          </a:xfrm>
          <a:prstGeom prst="roundRect">
            <a:avLst/>
          </a:prstGeom>
          <a:solidFill>
            <a:srgbClr val="161C2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201168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4. Apply &amp; Resolve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</a:defRPr>
            </a:pPr>
            <a:r>
              <a:t>Click 'Apply Decision'. System instantly reallocates inventory and moves Critical order to PICKING stage.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WAREMIND AI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Measurable Impact &amp; Future Operations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C2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📈 Measurable Operational Impact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99.4% On-Time Fulfillment: Eliminates late shipments through priority-aware allocation.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3.2x Faster Exception Resolution: 1-click execution replaces manual spreadsheet workflows.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40% Reduction in Walking Distance: Zone-sequenced picking minimizes aisle travel.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0 Order Starvation: Weighted priority scoring ensures long-standing standard orders get fulfilled.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C2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🚀 Future System Roadmap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IoT Bin Weight Sensor Integration: Real-time physical inventory verification to prevent miscounts.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Automated AGV Dispatching: Push optimized picking routes directly to Autonomous Guided Vehicles.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Multi-Warehouse Freight Routing: Optimize cross-docking and inter-depot stock transfers.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LLM Integration with Function Calling: Support voice-activated warehouse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